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77" r:id="rId5"/>
    <p:sldId id="260" r:id="rId6"/>
    <p:sldId id="278" r:id="rId7"/>
    <p:sldId id="262" r:id="rId8"/>
    <p:sldId id="276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53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3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31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3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0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1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8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9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4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6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EB5168A-C3EF-4F52-A225-225CBD9C04C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1EF90BD-585D-4DEE-A317-BD87F73450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2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414D-9A5A-7C6A-5860-2C6F065AE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400" dirty="0">
                <a:latin typeface="+mn-lt"/>
              </a:rPr>
              <a:t>Eco-Friendly Energy Usage Prediction</a:t>
            </a:r>
            <a:endParaRPr lang="en-US" sz="44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6AD6A-890C-ABC6-D7C3-9A871A34B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426" y="4306824"/>
            <a:ext cx="8113014" cy="231343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Predicting Household Energy Consumption using Machine Learning</a:t>
            </a:r>
          </a:p>
          <a:p>
            <a:endParaRPr lang="en-US" sz="3200" dirty="0"/>
          </a:p>
          <a:p>
            <a:pPr algn="r"/>
            <a:r>
              <a:rPr lang="en-US" dirty="0"/>
              <a:t>Name – Ravya Mishra</a:t>
            </a:r>
          </a:p>
          <a:p>
            <a:pPr algn="r"/>
            <a:r>
              <a:rPr lang="en-US" dirty="0"/>
              <a:t>PRN - 23030124063</a:t>
            </a:r>
          </a:p>
        </p:txBody>
      </p:sp>
    </p:spTree>
    <p:extLst>
      <p:ext uri="{BB962C8B-B14F-4D97-AF65-F5344CB8AC3E}">
        <p14:creationId xmlns:p14="http://schemas.microsoft.com/office/powerpoint/2010/main" val="156804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2D21-CFDE-735D-C851-79667BEE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874" y="300757"/>
            <a:ext cx="6584618" cy="817216"/>
          </a:xfrm>
        </p:spPr>
        <p:txBody>
          <a:bodyPr/>
          <a:lstStyle/>
          <a:p>
            <a:r>
              <a:rPr lang="en-IN" dirty="0">
                <a:latin typeface="+mn-lt"/>
              </a:rPr>
              <a:t>Table of Contents</a:t>
            </a:r>
            <a:endParaRPr lang="en-US" dirty="0">
              <a:latin typeface="+mn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14F3B09-3984-0B67-865C-159E8336B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5051" y="1218901"/>
            <a:ext cx="5059446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Introduction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 Statement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Description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Architecture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Methodology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2400" dirty="0"/>
              <a:t>Model Comparisons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Eco Recommendation System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Model Performances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Scope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4051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019E-AF9D-5851-354C-4F7A040D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722" y="507492"/>
            <a:ext cx="8026556" cy="1520600"/>
          </a:xfrm>
        </p:spPr>
        <p:txBody>
          <a:bodyPr/>
          <a:lstStyle/>
          <a:p>
            <a:r>
              <a:rPr lang="en-US" dirty="0">
                <a:latin typeface="+mn-lt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7F4A6-313A-A401-69A5-505E2EB88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7176" y="2856236"/>
            <a:ext cx="9077648" cy="254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Household energy consumption is rising rapidly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Manual monitoring is inefficient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Machine Learning enables predictive energy management</a:t>
            </a:r>
          </a:p>
        </p:txBody>
      </p:sp>
    </p:spTree>
    <p:extLst>
      <p:ext uri="{BB962C8B-B14F-4D97-AF65-F5344CB8AC3E}">
        <p14:creationId xmlns:p14="http://schemas.microsoft.com/office/powerpoint/2010/main" val="69149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0838-0041-C566-3274-E9AD477E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16636"/>
            <a:ext cx="7729728" cy="1188720"/>
          </a:xfrm>
        </p:spPr>
        <p:txBody>
          <a:bodyPr/>
          <a:lstStyle/>
          <a:p>
            <a:r>
              <a:rPr lang="en-IN" dirty="0">
                <a:latin typeface="+mn-lt"/>
              </a:rPr>
              <a:t>Why This Project Matters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6565B-11B0-8030-8C90-28EB014D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189988"/>
            <a:ext cx="4270247" cy="448513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Problem Statements</a:t>
            </a:r>
          </a:p>
          <a:p>
            <a:pPr>
              <a:lnSpc>
                <a:spcPct val="150000"/>
              </a:lnSpc>
            </a:pPr>
            <a:r>
              <a:rPr lang="en-US" dirty="0"/>
              <a:t>Buildings consume ~40% of global energy</a:t>
            </a:r>
          </a:p>
          <a:p>
            <a:pPr>
              <a:lnSpc>
                <a:spcPct val="150000"/>
              </a:lnSpc>
            </a:pPr>
            <a:r>
              <a:rPr lang="en-US" dirty="0"/>
              <a:t>HVAC &amp; lighting often represent the largest controllable loads</a:t>
            </a:r>
          </a:p>
          <a:p>
            <a:pPr>
              <a:lnSpc>
                <a:spcPct val="150000"/>
              </a:lnSpc>
            </a:pPr>
            <a:r>
              <a:rPr lang="en-US" dirty="0"/>
              <a:t>Lack of predictive insight → inefficient usage &amp; missed savings opportunities</a:t>
            </a:r>
          </a:p>
          <a:p>
            <a:pPr>
              <a:lnSpc>
                <a:spcPct val="150000"/>
              </a:lnSpc>
            </a:pPr>
            <a:r>
              <a:rPr lang="en-US" dirty="0"/>
              <a:t>Growing pressure on ESG reporting &amp; carbon reduction targets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A449E-C8CE-DD54-A97D-0FE5D949A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071116"/>
            <a:ext cx="4270247" cy="42748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Solution Created</a:t>
            </a:r>
          </a:p>
          <a:p>
            <a:pPr>
              <a:lnSpc>
                <a:spcPct val="150000"/>
              </a:lnSpc>
            </a:pPr>
            <a:r>
              <a:rPr lang="en-US" dirty="0"/>
              <a:t>Predictive modeling of hourly energy consumption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Identification of high-leverage reduction levers</a:t>
            </a:r>
          </a:p>
          <a:p>
            <a:pPr>
              <a:lnSpc>
                <a:spcPct val="150000"/>
              </a:lnSpc>
            </a:pPr>
            <a:r>
              <a:rPr lang="en-US" dirty="0"/>
              <a:t>Quantifiable savings from rule-based interventions</a:t>
            </a:r>
          </a:p>
          <a:p>
            <a:pPr>
              <a:lnSpc>
                <a:spcPct val="150000"/>
              </a:lnSpc>
            </a:pPr>
            <a:r>
              <a:rPr lang="en-US" dirty="0"/>
              <a:t>Foundation for smart building optimization &amp; demand response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38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7F0C-85AD-C22C-B3B3-CE2AA68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288" y="256032"/>
            <a:ext cx="6313424" cy="44754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Dataset Description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B3845-FC64-A711-88BB-098785188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1185164"/>
            <a:ext cx="5058155" cy="545947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Features:</a:t>
            </a:r>
          </a:p>
          <a:p>
            <a:pPr>
              <a:lnSpc>
                <a:spcPct val="150000"/>
              </a:lnSpc>
            </a:pPr>
            <a:r>
              <a:rPr lang="en-IN" dirty="0"/>
              <a:t>Temperature</a:t>
            </a:r>
          </a:p>
          <a:p>
            <a:pPr>
              <a:lnSpc>
                <a:spcPct val="150000"/>
              </a:lnSpc>
            </a:pPr>
            <a:r>
              <a:rPr lang="en-IN" dirty="0"/>
              <a:t>Humidity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SquareFootage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Occupancy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HVACUsage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LightingUsage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RenewableEnergy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 err="1"/>
              <a:t>DayOfWeek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Holiday</a:t>
            </a:r>
          </a:p>
          <a:p>
            <a:pPr>
              <a:lnSpc>
                <a:spcPct val="150000"/>
              </a:lnSpc>
            </a:pPr>
            <a:r>
              <a:rPr lang="en-IN" dirty="0"/>
              <a:t>Timestamp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7BD1-37E9-9C5B-1C42-66C02525A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1185164"/>
            <a:ext cx="4954525" cy="49778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en-IN" sz="2000" b="1" dirty="0"/>
              <a:t>Target Feature: </a:t>
            </a:r>
            <a:r>
              <a:rPr lang="en-IN" sz="2000" b="1" dirty="0" err="1"/>
              <a:t>EnergyConsumption</a:t>
            </a:r>
            <a:endParaRPr lang="en-IN" sz="2000" dirty="0"/>
          </a:p>
          <a:p>
            <a:pPr>
              <a:lnSpc>
                <a:spcPct val="210000"/>
              </a:lnSpc>
            </a:pPr>
            <a:r>
              <a:rPr lang="en-US" sz="2000" dirty="0"/>
              <a:t>Source: Energy_consumption.csv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~100,000 hourly observations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Target: </a:t>
            </a:r>
            <a:r>
              <a:rPr lang="en-US" sz="2000" dirty="0" err="1"/>
              <a:t>EnergyConsumption</a:t>
            </a:r>
            <a:r>
              <a:rPr lang="en-US" sz="2000" dirty="0"/>
              <a:t> (kWh)</a:t>
            </a:r>
          </a:p>
          <a:p>
            <a:pPr>
              <a:lnSpc>
                <a:spcPct val="210000"/>
              </a:lnSpc>
            </a:pPr>
            <a:r>
              <a:rPr lang="en-US" sz="2000" dirty="0"/>
              <a:t>10 raw features + engineered features</a:t>
            </a:r>
          </a:p>
        </p:txBody>
      </p:sp>
    </p:spTree>
    <p:extLst>
      <p:ext uri="{BB962C8B-B14F-4D97-AF65-F5344CB8AC3E}">
        <p14:creationId xmlns:p14="http://schemas.microsoft.com/office/powerpoint/2010/main" val="229152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BDB7-A840-4F61-19B3-1A6265FA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70" y="484888"/>
            <a:ext cx="5168606" cy="12238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DATA EXPLORATION AND ANALYSIS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3C00A0C-63D9-2251-F57A-8F4F94A6A4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t="1" r="-99" b="1"/>
          <a:stretch>
            <a:fillRect/>
          </a:stretch>
        </p:blipFill>
        <p:spPr>
          <a:xfrm>
            <a:off x="5961887" y="1"/>
            <a:ext cx="6102097" cy="6857999"/>
          </a:xfrm>
          <a:prstGeom prst="rect">
            <a:avLst/>
          </a:prstGeom>
          <a:solidFill>
            <a:srgbClr val="FFFFFF">
              <a:lumMod val="75000"/>
            </a:srgbClr>
          </a:solidFill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B1D1092-40B8-3FE8-C4E1-B2E5BF1BAC9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90362" y="1908214"/>
            <a:ext cx="5452069" cy="3807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Dataset split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80% training / 20% testing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Ensures model learns on unseen evaluation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Prevents overfitting assessment bias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Provides realistic performance estimation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state fixed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96413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A6AF-38E7-1E4A-A99C-1D3CB47C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449" y="375412"/>
            <a:ext cx="7054283" cy="886460"/>
          </a:xfrm>
        </p:spPr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55CD6-ED0A-6959-3FAE-93A467553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49" y="1518921"/>
            <a:ext cx="7054283" cy="473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5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7F96-CCC2-09A1-590D-0FA309C0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728" y="365252"/>
            <a:ext cx="6892544" cy="853948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C3DC6-F22F-D9E9-5754-00C23AEDDF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6774" y="1432920"/>
            <a:ext cx="3259226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Collection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Exploratory Data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Engineering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Hyperparameter Tuning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Prediction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1268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2E27-2D44-EF34-9CA7-F2AD5CF4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883" y="523614"/>
            <a:ext cx="9960864" cy="1188720"/>
          </a:xfrm>
        </p:spPr>
        <p:txBody>
          <a:bodyPr>
            <a:normAutofit/>
          </a:bodyPr>
          <a:lstStyle/>
          <a:p>
            <a:r>
              <a:rPr lang="en-IN" dirty="0"/>
              <a:t>Modelling Strategy &amp; Model Comparison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B6D9DB-96BC-3282-525C-8516E82E569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94030480"/>
              </p:ext>
            </p:extLst>
          </p:nvPr>
        </p:nvGraphicFramePr>
        <p:xfrm>
          <a:off x="1227200" y="2205286"/>
          <a:ext cx="10419366" cy="425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561">
                  <a:extLst>
                    <a:ext uri="{9D8B030D-6E8A-4147-A177-3AD203B41FA5}">
                      <a16:colId xmlns:a16="http://schemas.microsoft.com/office/drawing/2014/main" val="1735325839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4008167872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610235108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299018500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773258515"/>
                    </a:ext>
                  </a:extLst>
                </a:gridCol>
                <a:gridCol w="1736561">
                  <a:extLst>
                    <a:ext uri="{9D8B030D-6E8A-4147-A177-3AD203B41FA5}">
                      <a16:colId xmlns:a16="http://schemas.microsoft.com/office/drawing/2014/main" val="3891728964"/>
                    </a:ext>
                  </a:extLst>
                </a:gridCol>
              </a:tblGrid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R² (TEST)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437552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~0.65–0.75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123664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~0.85–0.92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GOOD BUT OUTPERFORMED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887218"/>
                  </a:ext>
                </a:extLst>
              </a:tr>
              <a:tr h="1064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XGBOOST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HIGHEST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LOWEST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LOWEST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SELECTED – BEST TRADEOFF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17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945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0A0D-4CC5-6A40-834D-B7BDF491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Final Model – </a:t>
            </a:r>
            <a:r>
              <a:rPr lang="en-IN" dirty="0" err="1">
                <a:latin typeface="+mn-lt"/>
              </a:rPr>
              <a:t>XGBoost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2021-25DC-D0D0-D500-630F82220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6736" y="2638044"/>
            <a:ext cx="4271774" cy="38907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pipe = Pipeline([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    ('</a:t>
            </a:r>
            <a:r>
              <a:rPr lang="fr-FR" sz="2000" dirty="0" err="1"/>
              <a:t>scaler</a:t>
            </a:r>
            <a:r>
              <a:rPr lang="fr-FR" sz="2000" dirty="0"/>
              <a:t>', </a:t>
            </a:r>
            <a:r>
              <a:rPr lang="fr-FR" sz="2000" dirty="0" err="1"/>
              <a:t>StandardScaler</a:t>
            </a:r>
            <a:r>
              <a:rPr lang="fr-FR" sz="2000" dirty="0"/>
              <a:t>()),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    ('model', </a:t>
            </a:r>
            <a:r>
              <a:rPr lang="fr-FR" sz="2000" dirty="0" err="1"/>
              <a:t>XGBRegressor</a:t>
            </a:r>
            <a:r>
              <a:rPr lang="fr-FR" sz="2000" dirty="0"/>
              <a:t>(**</a:t>
            </a:r>
            <a:r>
              <a:rPr lang="fr-FR" sz="2000" dirty="0" err="1"/>
              <a:t>grid.best_params</a:t>
            </a:r>
            <a:r>
              <a:rPr lang="fr-FR" sz="2000" dirty="0"/>
              <a:t>_))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FR" sz="2000" dirty="0"/>
              <a:t>])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B31D0-9274-5557-4AF6-22DD359BC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1131" y="2638044"/>
            <a:ext cx="3838957" cy="38907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params = {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n_estimators</a:t>
            </a:r>
            <a:r>
              <a:rPr lang="en-US" sz="1900" dirty="0"/>
              <a:t>':[100,200],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max_depth</a:t>
            </a:r>
            <a:r>
              <a:rPr lang="en-US" sz="1900" dirty="0"/>
              <a:t>':[3,5],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    '</a:t>
            </a:r>
            <a:r>
              <a:rPr lang="en-US" sz="1900" dirty="0" err="1"/>
              <a:t>learning_rate</a:t>
            </a:r>
            <a:r>
              <a:rPr lang="en-US" sz="1900" dirty="0"/>
              <a:t>':[0.05,0.1]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}</a:t>
            </a:r>
          </a:p>
          <a:p>
            <a:pPr>
              <a:lnSpc>
                <a:spcPct val="160000"/>
              </a:lnSpc>
            </a:pPr>
            <a:endParaRPr lang="en-US" dirty="0"/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Best Parameters: {'</a:t>
            </a:r>
            <a:r>
              <a:rPr lang="en-US" b="1" dirty="0" err="1"/>
              <a:t>learning_rate</a:t>
            </a:r>
            <a:r>
              <a:rPr lang="en-US" b="1" dirty="0"/>
              <a:t>': 0.05, '</a:t>
            </a:r>
            <a:r>
              <a:rPr lang="en-US" b="1" dirty="0" err="1"/>
              <a:t>max_depth</a:t>
            </a:r>
            <a:r>
              <a:rPr lang="en-US" b="1" dirty="0"/>
              <a:t>': 3, '</a:t>
            </a:r>
            <a:r>
              <a:rPr lang="en-US" b="1" dirty="0" err="1"/>
              <a:t>n_estimators</a:t>
            </a:r>
            <a:r>
              <a:rPr lang="en-US" b="1" dirty="0"/>
              <a:t>': 100}</a:t>
            </a:r>
          </a:p>
        </p:txBody>
      </p:sp>
    </p:spTree>
    <p:extLst>
      <p:ext uri="{BB962C8B-B14F-4D97-AF65-F5344CB8AC3E}">
        <p14:creationId xmlns:p14="http://schemas.microsoft.com/office/powerpoint/2010/main" val="76818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8700-A8D7-BE7A-A426-102D24EF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473" y="323008"/>
            <a:ext cx="6223053" cy="46305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Model Performance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11EC9-1F88-5876-16A1-7214A35E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8" y="1469148"/>
            <a:ext cx="3343658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FA3D8F-7B0C-0C47-2CC1-1A685C99A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25" y="1469148"/>
            <a:ext cx="4024352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E9331-0ACB-54EB-66E4-148B52EF7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147" y="1469148"/>
            <a:ext cx="3874055" cy="3161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D0D4B5-4924-556A-4108-43FF9A92E814}"/>
              </a:ext>
            </a:extLst>
          </p:cNvPr>
          <p:cNvSpPr txBox="1"/>
          <p:nvPr/>
        </p:nvSpPr>
        <p:spPr>
          <a:xfrm>
            <a:off x="1171074" y="5388852"/>
            <a:ext cx="10282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R² • MAE • RMSE • CV R² (5-fold)</a:t>
            </a:r>
          </a:p>
        </p:txBody>
      </p:sp>
    </p:spTree>
    <p:extLst>
      <p:ext uri="{BB962C8B-B14F-4D97-AF65-F5344CB8AC3E}">
        <p14:creationId xmlns:p14="http://schemas.microsoft.com/office/powerpoint/2010/main" val="103928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4C4A-0ADA-CAD4-D5BE-C1625A05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Feature Importance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6A1E4-9916-C2B6-001D-C5D8AC31A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0" y="2582777"/>
            <a:ext cx="4051228" cy="38180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Key insights</a:t>
            </a:r>
          </a:p>
          <a:p>
            <a:pPr algn="just"/>
            <a:r>
              <a:rPr lang="en-US" sz="2400" dirty="0"/>
              <a:t>Building size is by far the strongest predictor</a:t>
            </a:r>
          </a:p>
          <a:p>
            <a:r>
              <a:rPr lang="en-US" sz="2400" dirty="0"/>
              <a:t>Controllable factors (HVAC, Lighting) appear high → strong intervention potential</a:t>
            </a:r>
          </a:p>
          <a:p>
            <a:pPr algn="just"/>
            <a:r>
              <a:rPr lang="en-US" sz="2400" dirty="0"/>
              <a:t>Renewable contribution visible but secondary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917CF-9928-1C45-0201-6DAE3923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2" y="2582777"/>
            <a:ext cx="5270428" cy="36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8A61-7862-D218-EF0D-0027024C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From Prediction to Actionable Savings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0F90D-FD09-B381-1B3E-61FB5799B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4" cy="32552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Example case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Original prediction: </a:t>
            </a:r>
            <a:r>
              <a:rPr lang="en-US" b="1" dirty="0"/>
              <a:t>78.55 kWh</a:t>
            </a:r>
            <a:r>
              <a:rPr lang="en-US" dirty="0"/>
              <a:t> → classified as High consumption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Recommendations triggered:</a:t>
            </a:r>
          </a:p>
          <a:p>
            <a:pPr>
              <a:lnSpc>
                <a:spcPct val="150000"/>
              </a:lnSpc>
            </a:pPr>
            <a:r>
              <a:rPr lang="en-US" dirty="0"/>
              <a:t>Turn off unnecessary HVAC</a:t>
            </a:r>
          </a:p>
          <a:p>
            <a:pPr>
              <a:lnSpc>
                <a:spcPct val="150000"/>
              </a:lnSpc>
            </a:pPr>
            <a:r>
              <a:rPr lang="en-US" dirty="0"/>
              <a:t>Switch off unused lighting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3D1C9-9A90-9AFA-1782-62FDFA2A7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518611"/>
            <a:ext cx="4625341" cy="381818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Simulated intervention: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HVACUsage</a:t>
            </a:r>
            <a:r>
              <a:rPr lang="en-US" dirty="0"/>
              <a:t> = 0,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LightingUsage</a:t>
            </a:r>
            <a:r>
              <a:rPr lang="en-US" dirty="0"/>
              <a:t> = 0 →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New prediction: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74.67 kWh</a:t>
            </a:r>
            <a:r>
              <a:rPr lang="en-US" dirty="0"/>
              <a:t> → </a:t>
            </a:r>
            <a:r>
              <a:rPr lang="en-US" b="1" dirty="0"/>
              <a:t>Relative reduction: 4.95%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16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B870-4BF2-6522-2E71-87AE7F3E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6680" cy="112928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+mn-lt"/>
              </a:rPr>
              <a:t>Production Readiness &amp; Next Steps</a:t>
            </a:r>
            <a:endParaRPr lang="en-IN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E088-806B-8563-2ADA-CD1FD5A7FF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IS READY?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Trained &amp; saved model (</a:t>
            </a:r>
            <a:r>
              <a:rPr lang="en-US" dirty="0" err="1"/>
              <a:t>energy_model.pkl</a:t>
            </a:r>
            <a:r>
              <a:rPr lang="en-US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Clear feature importance ranking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Demonstrated intervention logic &amp; savings quantification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Reproducible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0F359-E946-AF38-0E92-DF19368FCA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LIMITATIONS &amp; IMPROVEMENTS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Currently static simulation (not time-series aware)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No external weather forecast integration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Single building – not yet multi-site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Potential for time-series CV or LSTM comparison.</a:t>
            </a:r>
          </a:p>
        </p:txBody>
      </p:sp>
    </p:spTree>
    <p:extLst>
      <p:ext uri="{BB962C8B-B14F-4D97-AF65-F5344CB8AC3E}">
        <p14:creationId xmlns:p14="http://schemas.microsoft.com/office/powerpoint/2010/main" val="264668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31A2-CEA3-4115-4233-EE04219F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Data Science in Action for Sustainability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44798B-E0F5-502C-63F9-ED9D5B62CFE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944624" y="2387240"/>
            <a:ext cx="8223504" cy="421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delivered strongest predictive performance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Square footage, temperature &amp; HVAC usage are dominant drivers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operational changes can yield ~5% savings per instance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is saved, interpretable, and ready for integration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path from prediction → behavioral recommendation → carbon impact</a:t>
            </a:r>
            <a:endParaRPr lang="en-US" altLang="en-US" dirty="0">
              <a:solidFill>
                <a:schemeClr val="tx1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400" b="1" dirty="0"/>
              <a:t>ACCURATE FORECASTING + TARGETED INTERVENTIONS = MEASURABLE PROGRESS TOWARD NET-ZERO BUILDINGS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1023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B611-3618-34D3-3639-3A46807D2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936" y="521208"/>
            <a:ext cx="8644128" cy="269748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THE END!</a:t>
            </a:r>
            <a:br>
              <a:rPr lang="en-US" sz="4000" dirty="0"/>
            </a:br>
            <a:r>
              <a:rPr lang="en-US" sz="4000"/>
              <a:t>THANKYOU!!</a:t>
            </a:r>
            <a:br>
              <a:rPr lang="en-US" sz="4000" dirty="0"/>
            </a:br>
            <a:r>
              <a:rPr lang="en-US" sz="4000" dirty="0"/>
              <a:t>ANY QUESTIONS…???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729EE-E914-883E-23C1-271FEF4DF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0126" y="3904489"/>
            <a:ext cx="5891747" cy="14264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RAVYA MISHRA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23030124063</a:t>
            </a:r>
          </a:p>
        </p:txBody>
      </p:sp>
    </p:spTree>
    <p:extLst>
      <p:ext uri="{BB962C8B-B14F-4D97-AF65-F5344CB8AC3E}">
        <p14:creationId xmlns:p14="http://schemas.microsoft.com/office/powerpoint/2010/main" val="28637151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ENERGY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2E7D32"/>
      </a:accent1>
      <a:accent2>
        <a:srgbClr val="00796B"/>
      </a:accent2>
      <a:accent3>
        <a:srgbClr val="0288D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750</TotalTime>
  <Words>570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Parcel</vt:lpstr>
      <vt:lpstr>Eco-Friendly Energy Usage Prediction</vt:lpstr>
      <vt:lpstr>Table of Contents</vt:lpstr>
      <vt:lpstr>INTRODUCTION</vt:lpstr>
      <vt:lpstr>Why This Project Matters</vt:lpstr>
      <vt:lpstr>Dataset Description</vt:lpstr>
      <vt:lpstr>DATA EXPLORATION AND ANALYSIS</vt:lpstr>
      <vt:lpstr>MODEL ARCHITECTURE</vt:lpstr>
      <vt:lpstr>METHODOLOGY</vt:lpstr>
      <vt:lpstr>Modelling Strategy &amp; Model Comparison</vt:lpstr>
      <vt:lpstr>Final Model – XGBoost</vt:lpstr>
      <vt:lpstr>Model Performance</vt:lpstr>
      <vt:lpstr>Feature Importance</vt:lpstr>
      <vt:lpstr>From Prediction to Actionable Savings</vt:lpstr>
      <vt:lpstr>Production Readiness &amp; Next Steps</vt:lpstr>
      <vt:lpstr>Data Science in Action for Sustainability</vt:lpstr>
      <vt:lpstr>THE END! THANKYOU!! ANY QUESTIONS…???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RAVYA MISHRA</dc:creator>
  <cp:lastModifiedBy>RAVYA MISHRA</cp:lastModifiedBy>
  <cp:revision>71</cp:revision>
  <dcterms:created xsi:type="dcterms:W3CDTF">2026-02-18T16:43:42Z</dcterms:created>
  <dcterms:modified xsi:type="dcterms:W3CDTF">2026-02-19T05:14:11Z</dcterms:modified>
</cp:coreProperties>
</file>