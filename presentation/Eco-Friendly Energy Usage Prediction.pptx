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77" r:id="rId5"/>
    <p:sldId id="279" r:id="rId6"/>
    <p:sldId id="260" r:id="rId7"/>
    <p:sldId id="278" r:id="rId8"/>
    <p:sldId id="262" r:id="rId9"/>
    <p:sldId id="276" r:id="rId10"/>
    <p:sldId id="263" r:id="rId11"/>
    <p:sldId id="265" r:id="rId12"/>
    <p:sldId id="264" r:id="rId13"/>
    <p:sldId id="266" r:id="rId14"/>
    <p:sldId id="267" r:id="rId15"/>
    <p:sldId id="268" r:id="rId16"/>
    <p:sldId id="269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1" autoAdjust="0"/>
    <p:restoredTop sz="94660"/>
  </p:normalViewPr>
  <p:slideViewPr>
    <p:cSldViewPr snapToGrid="0">
      <p:cViewPr varScale="1">
        <p:scale>
          <a:sx n="84" d="100"/>
          <a:sy n="84" d="100"/>
        </p:scale>
        <p:origin x="90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168A-C3EF-4F52-A225-225CBD9C04C0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90BD-585D-4DEE-A317-BD87F73450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953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168A-C3EF-4F52-A225-225CBD9C04C0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90BD-585D-4DEE-A317-BD87F73450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935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168A-C3EF-4F52-A225-225CBD9C04C0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90BD-585D-4DEE-A317-BD87F73450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331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168A-C3EF-4F52-A225-225CBD9C04C0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90BD-585D-4DEE-A317-BD87F73450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637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168A-C3EF-4F52-A225-225CBD9C04C0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90BD-585D-4DEE-A317-BD87F734505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168A-C3EF-4F52-A225-225CBD9C04C0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90BD-585D-4DEE-A317-BD87F73450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002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168A-C3EF-4F52-A225-225CBD9C04C0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90BD-585D-4DEE-A317-BD87F73450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619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168A-C3EF-4F52-A225-225CBD9C04C0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90BD-585D-4DEE-A317-BD87F73450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883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EB5168A-C3EF-4F52-A225-225CBD9C04C0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90BD-585D-4DEE-A317-BD87F73450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892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168A-C3EF-4F52-A225-225CBD9C04C0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90BD-585D-4DEE-A317-BD87F73450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448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168A-C3EF-4F52-A225-225CBD9C04C0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90BD-585D-4DEE-A317-BD87F73450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166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0EB5168A-C3EF-4F52-A225-225CBD9C04C0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1EF90BD-585D-4DEE-A317-BD87F73450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927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3414D-9A5A-7C6A-5860-2C6F065AEF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IN" sz="4400" dirty="0">
                <a:latin typeface="+mn-lt"/>
              </a:rPr>
              <a:t>Eco-Friendly Energy Usage Prediction</a:t>
            </a:r>
            <a:endParaRPr lang="en-US" sz="4400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B6AD6A-890C-ABC6-D7C3-9A871A34BA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5426" y="4306824"/>
            <a:ext cx="8113014" cy="2313432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/>
              <a:t>Predicting Household Energy Consumption using Machine Learning</a:t>
            </a:r>
          </a:p>
          <a:p>
            <a:endParaRPr lang="en-US" sz="3200" dirty="0"/>
          </a:p>
          <a:p>
            <a:pPr algn="r"/>
            <a:r>
              <a:rPr lang="en-US" dirty="0"/>
              <a:t>Name – Ravya Mishra</a:t>
            </a:r>
          </a:p>
          <a:p>
            <a:pPr algn="r"/>
            <a:r>
              <a:rPr lang="en-US" dirty="0"/>
              <a:t>PRN - 23030124063</a:t>
            </a:r>
          </a:p>
        </p:txBody>
      </p:sp>
    </p:spTree>
    <p:extLst>
      <p:ext uri="{BB962C8B-B14F-4D97-AF65-F5344CB8AC3E}">
        <p14:creationId xmlns:p14="http://schemas.microsoft.com/office/powerpoint/2010/main" val="1568040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12D21-CFDE-735D-C851-79667BEE5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874" y="300757"/>
            <a:ext cx="6584618" cy="817216"/>
          </a:xfrm>
        </p:spPr>
        <p:txBody>
          <a:bodyPr/>
          <a:lstStyle/>
          <a:p>
            <a:r>
              <a:rPr lang="en-IN" dirty="0">
                <a:latin typeface="+mn-lt"/>
              </a:rPr>
              <a:t>Table of Contents</a:t>
            </a:r>
            <a:endParaRPr lang="en-US" dirty="0">
              <a:latin typeface="+mn-lt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14F3B09-3984-0B67-865C-159E8336B1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95051" y="1218901"/>
            <a:ext cx="5059446" cy="5565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Introduction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Problem Statement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Dataset Description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System Architecture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Methodology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IN" sz="2400" dirty="0"/>
              <a:t>Model Comparisons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Eco Recommendation System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</a:rPr>
              <a:t>Model Performances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Future Scope</a:t>
            </a: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640515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7019E-AF9D-5851-354C-4F7A040DB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722" y="507492"/>
            <a:ext cx="8026556" cy="1520600"/>
          </a:xfrm>
        </p:spPr>
        <p:txBody>
          <a:bodyPr/>
          <a:lstStyle/>
          <a:p>
            <a:r>
              <a:rPr lang="en-US" dirty="0">
                <a:latin typeface="+mn-lt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37F4A6-313A-A401-69A5-505E2EB884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57176" y="2856236"/>
            <a:ext cx="9077648" cy="2546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Household energy consumption is rising rapidly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Manual monitoring is inefficient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Machine Learning enables predictive energy management</a:t>
            </a:r>
          </a:p>
        </p:txBody>
      </p:sp>
    </p:spTree>
    <p:extLst>
      <p:ext uri="{BB962C8B-B14F-4D97-AF65-F5344CB8AC3E}">
        <p14:creationId xmlns:p14="http://schemas.microsoft.com/office/powerpoint/2010/main" val="691495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C0838-0041-C566-3274-E9AD477ED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16636"/>
            <a:ext cx="7729728" cy="1188720"/>
          </a:xfrm>
        </p:spPr>
        <p:txBody>
          <a:bodyPr/>
          <a:lstStyle/>
          <a:p>
            <a:r>
              <a:rPr lang="en-IN" dirty="0">
                <a:latin typeface="+mn-lt"/>
              </a:rPr>
              <a:t>Why This Project Matters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6565B-11B0-8030-8C90-28EB014D97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1912" y="2189988"/>
            <a:ext cx="4270247" cy="448513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/>
              <a:t>Problem Statements</a:t>
            </a:r>
          </a:p>
          <a:p>
            <a:pPr>
              <a:lnSpc>
                <a:spcPct val="150000"/>
              </a:lnSpc>
            </a:pPr>
            <a:r>
              <a:rPr lang="en-US" dirty="0"/>
              <a:t>Buildings consume ~40% of global energy</a:t>
            </a:r>
          </a:p>
          <a:p>
            <a:pPr>
              <a:lnSpc>
                <a:spcPct val="150000"/>
              </a:lnSpc>
            </a:pPr>
            <a:r>
              <a:rPr lang="en-US" dirty="0"/>
              <a:t>HVAC &amp; lighting often represent the largest controllable loads</a:t>
            </a:r>
          </a:p>
          <a:p>
            <a:pPr>
              <a:lnSpc>
                <a:spcPct val="150000"/>
              </a:lnSpc>
            </a:pPr>
            <a:r>
              <a:rPr lang="en-US" dirty="0"/>
              <a:t>Lack of predictive insight → inefficient usage &amp; missed savings opportunities</a:t>
            </a:r>
          </a:p>
          <a:p>
            <a:pPr>
              <a:lnSpc>
                <a:spcPct val="150000"/>
              </a:lnSpc>
            </a:pPr>
            <a:r>
              <a:rPr lang="en-US" dirty="0"/>
              <a:t>Growing pressure on ESG reporting &amp; carbon reduction targets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7A449E-C8CE-DD54-A97D-0FE5D949A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8315" y="2071116"/>
            <a:ext cx="4270247" cy="427482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/>
              <a:t>Solution Created</a:t>
            </a:r>
          </a:p>
          <a:p>
            <a:pPr>
              <a:lnSpc>
                <a:spcPct val="150000"/>
              </a:lnSpc>
            </a:pPr>
            <a:r>
              <a:rPr lang="en-US" dirty="0"/>
              <a:t>Predictive modeling of hourly energy consumption</a:t>
            </a:r>
          </a:p>
          <a:p>
            <a:pPr>
              <a:lnSpc>
                <a:spcPct val="150000"/>
              </a:lnSpc>
            </a:pPr>
            <a:r>
              <a:rPr lang="en-US" dirty="0"/>
              <a:t>Identification of high-leverage reduction levers</a:t>
            </a:r>
          </a:p>
          <a:p>
            <a:pPr>
              <a:lnSpc>
                <a:spcPct val="150000"/>
              </a:lnSpc>
            </a:pPr>
            <a:r>
              <a:rPr lang="en-US" dirty="0"/>
              <a:t>Quantifiable savings from rule-based interventions</a:t>
            </a:r>
          </a:p>
          <a:p>
            <a:pPr>
              <a:lnSpc>
                <a:spcPct val="150000"/>
              </a:lnSpc>
            </a:pPr>
            <a:r>
              <a:rPr lang="en-US" dirty="0"/>
              <a:t>Foundation for smart building optimization &amp; demand response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3385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F8DCC-479B-531F-3308-2E94767F0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4956" y="238321"/>
            <a:ext cx="7562088" cy="950399"/>
          </a:xfrm>
        </p:spPr>
        <p:txBody>
          <a:bodyPr/>
          <a:lstStyle/>
          <a:p>
            <a:r>
              <a:rPr lang="en-US" dirty="0"/>
              <a:t>PROJECT DIRECTORY STRUCTURE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B2EEAA6-9B1F-AD6E-9794-A0BF88ECAAA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075" y="1557222"/>
            <a:ext cx="6142828" cy="4182803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E5C3B98-65E7-83C8-4B73-CC183C25F56D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682484" y="1746488"/>
            <a:ext cx="4012692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separation of data, model, source code, and reports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maintainability and scalability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Facilitates reproducibility and version control using Git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hierarchy for development and deployment</a:t>
            </a:r>
          </a:p>
        </p:txBody>
      </p:sp>
    </p:spTree>
    <p:extLst>
      <p:ext uri="{BB962C8B-B14F-4D97-AF65-F5344CB8AC3E}">
        <p14:creationId xmlns:p14="http://schemas.microsoft.com/office/powerpoint/2010/main" val="2471900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A7F0C-85AD-C22C-B3B3-CE2AA68A6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288" y="256032"/>
            <a:ext cx="6313424" cy="447548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+mn-lt"/>
              </a:rPr>
              <a:t>Dataset Description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B3845-FC64-A711-88BB-0987851885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1185164"/>
            <a:ext cx="5058155" cy="5459476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/>
              <a:t>Features:</a:t>
            </a:r>
          </a:p>
          <a:p>
            <a:pPr>
              <a:lnSpc>
                <a:spcPct val="150000"/>
              </a:lnSpc>
            </a:pPr>
            <a:r>
              <a:rPr lang="en-IN" dirty="0"/>
              <a:t>Temperature</a:t>
            </a:r>
          </a:p>
          <a:p>
            <a:pPr>
              <a:lnSpc>
                <a:spcPct val="150000"/>
              </a:lnSpc>
            </a:pPr>
            <a:r>
              <a:rPr lang="en-IN" dirty="0"/>
              <a:t>Humidity</a:t>
            </a:r>
          </a:p>
          <a:p>
            <a:pPr>
              <a:lnSpc>
                <a:spcPct val="150000"/>
              </a:lnSpc>
            </a:pPr>
            <a:r>
              <a:rPr lang="en-IN" dirty="0" err="1"/>
              <a:t>SquareFootage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Occupancy</a:t>
            </a:r>
          </a:p>
          <a:p>
            <a:pPr>
              <a:lnSpc>
                <a:spcPct val="150000"/>
              </a:lnSpc>
            </a:pPr>
            <a:r>
              <a:rPr lang="en-IN" dirty="0" err="1"/>
              <a:t>HVACUsage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 err="1"/>
              <a:t>LightingUsage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 err="1"/>
              <a:t>RenewableEnergy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 err="1"/>
              <a:t>DayOfWeek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Holiday</a:t>
            </a:r>
          </a:p>
          <a:p>
            <a:pPr>
              <a:lnSpc>
                <a:spcPct val="150000"/>
              </a:lnSpc>
            </a:pPr>
            <a:r>
              <a:rPr lang="en-IN" dirty="0"/>
              <a:t>Timestamp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D7BD1-37E9-9C5B-1C42-66C02525A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8315" y="1185164"/>
            <a:ext cx="4954525" cy="4977892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210000"/>
              </a:lnSpc>
              <a:buNone/>
            </a:pPr>
            <a:r>
              <a:rPr lang="en-IN" sz="2000" b="1" dirty="0"/>
              <a:t>Target Feature: </a:t>
            </a:r>
            <a:r>
              <a:rPr lang="en-IN" sz="2000" b="1" dirty="0" err="1"/>
              <a:t>EnergyConsumption</a:t>
            </a:r>
            <a:endParaRPr lang="en-IN" sz="2000" dirty="0"/>
          </a:p>
          <a:p>
            <a:pPr>
              <a:lnSpc>
                <a:spcPct val="210000"/>
              </a:lnSpc>
            </a:pPr>
            <a:r>
              <a:rPr lang="en-US" sz="2000" dirty="0"/>
              <a:t>Source: Energy_consumption.csv</a:t>
            </a:r>
          </a:p>
          <a:p>
            <a:pPr>
              <a:lnSpc>
                <a:spcPct val="210000"/>
              </a:lnSpc>
            </a:pPr>
            <a:r>
              <a:rPr lang="en-US" sz="2000" dirty="0"/>
              <a:t>~100,000 hourly observations</a:t>
            </a:r>
          </a:p>
          <a:p>
            <a:pPr>
              <a:lnSpc>
                <a:spcPct val="210000"/>
              </a:lnSpc>
            </a:pPr>
            <a:r>
              <a:rPr lang="en-US" sz="2000" dirty="0"/>
              <a:t>Target: </a:t>
            </a:r>
            <a:r>
              <a:rPr lang="en-US" sz="2000" dirty="0" err="1"/>
              <a:t>EnergyConsumption</a:t>
            </a:r>
            <a:r>
              <a:rPr lang="en-US" sz="2000" dirty="0"/>
              <a:t> (kWh)</a:t>
            </a:r>
          </a:p>
          <a:p>
            <a:pPr>
              <a:lnSpc>
                <a:spcPct val="210000"/>
              </a:lnSpc>
            </a:pPr>
            <a:r>
              <a:rPr lang="en-US" sz="2000" dirty="0"/>
              <a:t>10 raw features + engineered features</a:t>
            </a:r>
          </a:p>
        </p:txBody>
      </p:sp>
    </p:spTree>
    <p:extLst>
      <p:ext uri="{BB962C8B-B14F-4D97-AF65-F5344CB8AC3E}">
        <p14:creationId xmlns:p14="http://schemas.microsoft.com/office/powerpoint/2010/main" val="2291520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9BDB7-A840-4F61-19B3-1A6265FAB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370" y="484888"/>
            <a:ext cx="5168606" cy="1223833"/>
          </a:xfrm>
        </p:spPr>
        <p:txBody>
          <a:bodyPr/>
          <a:lstStyle/>
          <a:p>
            <a:r>
              <a:rPr lang="en-US" sz="2400" dirty="0">
                <a:latin typeface="+mn-lt"/>
              </a:rPr>
              <a:t>DATA EXPLORATION AND ANALYSIS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F3C00A0C-63D9-2251-F57A-8F4F94A6A46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" t="1" r="-99" b="1"/>
          <a:stretch>
            <a:fillRect/>
          </a:stretch>
        </p:blipFill>
        <p:spPr>
          <a:xfrm>
            <a:off x="5961887" y="1"/>
            <a:ext cx="6102097" cy="6857999"/>
          </a:xfrm>
          <a:prstGeom prst="rect">
            <a:avLst/>
          </a:prstGeom>
          <a:solidFill>
            <a:srgbClr val="FFFFFF">
              <a:lumMod val="75000"/>
            </a:srgbClr>
          </a:solidFill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B1D1092-40B8-3FE8-C4E1-B2E5BF1BAC9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290362" y="1908214"/>
            <a:ext cx="5452069" cy="3807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Dataset split into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80% training / 20% testing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Ensures model learns on unseen evaluation data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Prevents overfitting assessment bias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Provides realistic performance estimation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Random state fixed for reproducibility</a:t>
            </a:r>
          </a:p>
        </p:txBody>
      </p:sp>
    </p:spTree>
    <p:extLst>
      <p:ext uri="{BB962C8B-B14F-4D97-AF65-F5344CB8AC3E}">
        <p14:creationId xmlns:p14="http://schemas.microsoft.com/office/powerpoint/2010/main" val="2964139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AA6AF-38E7-1E4A-A99C-1D3CB47CA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8449" y="375412"/>
            <a:ext cx="7054283" cy="886460"/>
          </a:xfrm>
        </p:spPr>
        <p:txBody>
          <a:bodyPr/>
          <a:lstStyle/>
          <a:p>
            <a:r>
              <a:rPr lang="en-US" dirty="0"/>
              <a:t>MODEL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D55CD6-ED0A-6959-3FAE-93A4675536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449" y="1518921"/>
            <a:ext cx="7054283" cy="473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655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67F96-CCC2-09A1-590D-0FA309C0D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9728" y="365252"/>
            <a:ext cx="6892544" cy="853948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7C3DC6-F22F-D9E9-5754-00C23AEDDF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36774" y="1432920"/>
            <a:ext cx="3259226" cy="4922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 Collection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Exploratory Data Analysis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Preprocessing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Feature Engineering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 Training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Hyperparameter Tuning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Evaluation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Prediction &amp; Optimization</a:t>
            </a:r>
          </a:p>
        </p:txBody>
      </p:sp>
    </p:spTree>
    <p:extLst>
      <p:ext uri="{BB962C8B-B14F-4D97-AF65-F5344CB8AC3E}">
        <p14:creationId xmlns:p14="http://schemas.microsoft.com/office/powerpoint/2010/main" val="12688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42E27-2D44-EF34-9CA7-F2AD5CF40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883" y="523614"/>
            <a:ext cx="9960864" cy="1188720"/>
          </a:xfrm>
        </p:spPr>
        <p:txBody>
          <a:bodyPr>
            <a:normAutofit/>
          </a:bodyPr>
          <a:lstStyle/>
          <a:p>
            <a:r>
              <a:rPr lang="en-IN" dirty="0"/>
              <a:t>Modelling Strategy &amp; Model Comparison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1B6D9DB-96BC-3282-525C-8516E82E569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94030480"/>
              </p:ext>
            </p:extLst>
          </p:nvPr>
        </p:nvGraphicFramePr>
        <p:xfrm>
          <a:off x="1227200" y="2205286"/>
          <a:ext cx="10419366" cy="4259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6561">
                  <a:extLst>
                    <a:ext uri="{9D8B030D-6E8A-4147-A177-3AD203B41FA5}">
                      <a16:colId xmlns:a16="http://schemas.microsoft.com/office/drawing/2014/main" val="1735325839"/>
                    </a:ext>
                  </a:extLst>
                </a:gridCol>
                <a:gridCol w="1736561">
                  <a:extLst>
                    <a:ext uri="{9D8B030D-6E8A-4147-A177-3AD203B41FA5}">
                      <a16:colId xmlns:a16="http://schemas.microsoft.com/office/drawing/2014/main" val="4008167872"/>
                    </a:ext>
                  </a:extLst>
                </a:gridCol>
                <a:gridCol w="1736561">
                  <a:extLst>
                    <a:ext uri="{9D8B030D-6E8A-4147-A177-3AD203B41FA5}">
                      <a16:colId xmlns:a16="http://schemas.microsoft.com/office/drawing/2014/main" val="610235108"/>
                    </a:ext>
                  </a:extLst>
                </a:gridCol>
                <a:gridCol w="1736561">
                  <a:extLst>
                    <a:ext uri="{9D8B030D-6E8A-4147-A177-3AD203B41FA5}">
                      <a16:colId xmlns:a16="http://schemas.microsoft.com/office/drawing/2014/main" val="3299018500"/>
                    </a:ext>
                  </a:extLst>
                </a:gridCol>
                <a:gridCol w="1736561">
                  <a:extLst>
                    <a:ext uri="{9D8B030D-6E8A-4147-A177-3AD203B41FA5}">
                      <a16:colId xmlns:a16="http://schemas.microsoft.com/office/drawing/2014/main" val="3773258515"/>
                    </a:ext>
                  </a:extLst>
                </a:gridCol>
                <a:gridCol w="1736561">
                  <a:extLst>
                    <a:ext uri="{9D8B030D-6E8A-4147-A177-3AD203B41FA5}">
                      <a16:colId xmlns:a16="http://schemas.microsoft.com/office/drawing/2014/main" val="3891728964"/>
                    </a:ext>
                  </a:extLst>
                </a:gridCol>
              </a:tblGrid>
              <a:tr h="10649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R² (TEST)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TRAINING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6437552"/>
                  </a:ext>
                </a:extLst>
              </a:tr>
              <a:tr h="10649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LINEAR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~0.65–0.75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HIGHER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HIGHER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VERY 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BASELINE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0123664"/>
                  </a:ext>
                </a:extLst>
              </a:tr>
              <a:tr h="10649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~0.85–0.92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GOOD BUT OUTPERFORMED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8887218"/>
                  </a:ext>
                </a:extLst>
              </a:tr>
              <a:tr h="10649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XGBOOST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HIGHEST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LOWEST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LOWEST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SELECTED – BEST TRADEOFF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4179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9945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C0A0D-4CC5-6A40-834D-B7BDF491B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Final Model – </a:t>
            </a:r>
            <a:r>
              <a:rPr lang="en-IN" dirty="0" err="1">
                <a:latin typeface="+mn-lt"/>
              </a:rPr>
              <a:t>XGBoost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02021-25DC-D0D0-D500-630F822208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16736" y="2638044"/>
            <a:ext cx="4271774" cy="389077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fr-FR" sz="2000" dirty="0"/>
              <a:t>pipe = Pipeline([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fr-FR" sz="2000" dirty="0"/>
              <a:t>    ('</a:t>
            </a:r>
            <a:r>
              <a:rPr lang="fr-FR" sz="2000" dirty="0" err="1"/>
              <a:t>scaler</a:t>
            </a:r>
            <a:r>
              <a:rPr lang="fr-FR" sz="2000" dirty="0"/>
              <a:t>', </a:t>
            </a:r>
            <a:r>
              <a:rPr lang="fr-FR" sz="2000" dirty="0" err="1"/>
              <a:t>StandardScaler</a:t>
            </a:r>
            <a:r>
              <a:rPr lang="fr-FR" sz="2000" dirty="0"/>
              <a:t>()),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fr-FR" sz="2000" dirty="0"/>
              <a:t>    ('model', </a:t>
            </a:r>
            <a:r>
              <a:rPr lang="fr-FR" sz="2000" dirty="0" err="1"/>
              <a:t>XGBRegressor</a:t>
            </a:r>
            <a:r>
              <a:rPr lang="fr-FR" sz="2000" dirty="0"/>
              <a:t>(**</a:t>
            </a:r>
            <a:r>
              <a:rPr lang="fr-FR" sz="2000" dirty="0" err="1"/>
              <a:t>grid.best_params</a:t>
            </a:r>
            <a:r>
              <a:rPr lang="fr-FR" sz="2000" dirty="0"/>
              <a:t>_))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fr-FR" sz="2000" dirty="0"/>
              <a:t>])</a:t>
            </a:r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CB31D0-9274-5557-4AF6-22DD359BC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1131" y="2638044"/>
            <a:ext cx="3838957" cy="389077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1900" dirty="0"/>
              <a:t>params = {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900" dirty="0"/>
              <a:t>    '</a:t>
            </a:r>
            <a:r>
              <a:rPr lang="en-US" sz="1900" dirty="0" err="1"/>
              <a:t>n_estimators</a:t>
            </a:r>
            <a:r>
              <a:rPr lang="en-US" sz="1900" dirty="0"/>
              <a:t>':[100,200],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900" dirty="0"/>
              <a:t>    '</a:t>
            </a:r>
            <a:r>
              <a:rPr lang="en-US" sz="1900" dirty="0" err="1"/>
              <a:t>max_depth</a:t>
            </a:r>
            <a:r>
              <a:rPr lang="en-US" sz="1900" dirty="0"/>
              <a:t>':[3,5],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900" dirty="0"/>
              <a:t>    '</a:t>
            </a:r>
            <a:r>
              <a:rPr lang="en-US" sz="1900" dirty="0" err="1"/>
              <a:t>learning_rate</a:t>
            </a:r>
            <a:r>
              <a:rPr lang="en-US" sz="1900" dirty="0"/>
              <a:t>':[0.05,0.1]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900" dirty="0"/>
              <a:t>}</a:t>
            </a:r>
          </a:p>
          <a:p>
            <a:pPr>
              <a:lnSpc>
                <a:spcPct val="160000"/>
              </a:lnSpc>
            </a:pPr>
            <a:endParaRPr lang="en-US" dirty="0"/>
          </a:p>
          <a:p>
            <a:pPr marL="0" indent="0">
              <a:lnSpc>
                <a:spcPct val="160000"/>
              </a:lnSpc>
              <a:buNone/>
            </a:pPr>
            <a:r>
              <a:rPr lang="en-US" b="1" dirty="0"/>
              <a:t>Best Parameters: {'</a:t>
            </a:r>
            <a:r>
              <a:rPr lang="en-US" b="1" dirty="0" err="1"/>
              <a:t>learning_rate</a:t>
            </a:r>
            <a:r>
              <a:rPr lang="en-US" b="1" dirty="0"/>
              <a:t>': 0.05, '</a:t>
            </a:r>
            <a:r>
              <a:rPr lang="en-US" b="1" dirty="0" err="1"/>
              <a:t>max_depth</a:t>
            </a:r>
            <a:r>
              <a:rPr lang="en-US" b="1" dirty="0"/>
              <a:t>': 3, '</a:t>
            </a:r>
            <a:r>
              <a:rPr lang="en-US" b="1" dirty="0" err="1"/>
              <a:t>n_estimators</a:t>
            </a:r>
            <a:r>
              <a:rPr lang="en-US" b="1" dirty="0"/>
              <a:t>': 100}</a:t>
            </a:r>
          </a:p>
        </p:txBody>
      </p:sp>
    </p:spTree>
    <p:extLst>
      <p:ext uri="{BB962C8B-B14F-4D97-AF65-F5344CB8AC3E}">
        <p14:creationId xmlns:p14="http://schemas.microsoft.com/office/powerpoint/2010/main" val="768183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F8700-A8D7-BE7A-A426-102D24EFC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4473" y="323008"/>
            <a:ext cx="6223053" cy="463055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+mn-lt"/>
              </a:rPr>
              <a:t>Model Performance</a:t>
            </a: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911EC9-1F88-5876-16A1-7214A35E4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8" y="1469148"/>
            <a:ext cx="3343658" cy="31615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FA3D8F-7B0C-0C47-2CC1-1A685C99A2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625" y="1469148"/>
            <a:ext cx="4024352" cy="31615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EE9331-0ACB-54EB-66E4-148B52EF7D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147" y="1469148"/>
            <a:ext cx="3874055" cy="31615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D0D4B5-4924-556A-4108-43FF9A92E814}"/>
              </a:ext>
            </a:extLst>
          </p:cNvPr>
          <p:cNvSpPr txBox="1"/>
          <p:nvPr/>
        </p:nvSpPr>
        <p:spPr>
          <a:xfrm>
            <a:off x="1171074" y="5388852"/>
            <a:ext cx="102829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R² • MAE • RMSE • CV R² (5-fold)</a:t>
            </a:r>
          </a:p>
        </p:txBody>
      </p:sp>
    </p:spTree>
    <p:extLst>
      <p:ext uri="{BB962C8B-B14F-4D97-AF65-F5344CB8AC3E}">
        <p14:creationId xmlns:p14="http://schemas.microsoft.com/office/powerpoint/2010/main" val="1039289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94C4A-0ADA-CAD4-D5BE-C1625A058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Feature Importance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6A1E4-9916-C2B6-001D-C5D8AC31A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0" y="2582777"/>
            <a:ext cx="4051228" cy="381802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/>
              <a:t>Key insights</a:t>
            </a:r>
          </a:p>
          <a:p>
            <a:pPr algn="just"/>
            <a:r>
              <a:rPr lang="en-US" sz="2400" dirty="0"/>
              <a:t>Building size is by far the strongest predictor</a:t>
            </a:r>
          </a:p>
          <a:p>
            <a:r>
              <a:rPr lang="en-US" sz="2400" dirty="0"/>
              <a:t>Controllable factors (HVAC, Lighting) appear high → strong intervention potential</a:t>
            </a:r>
          </a:p>
          <a:p>
            <a:pPr algn="just"/>
            <a:r>
              <a:rPr lang="en-US" sz="2400" dirty="0"/>
              <a:t>Renewable contribution visible but secondary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8917CF-9928-1C45-0201-6DAE39230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72" y="2582777"/>
            <a:ext cx="5270428" cy="362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598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08A61-7862-D218-EF0D-0027024CB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From Prediction to Actionable Savings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0F90D-FD09-B381-1B3E-61FB5799B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4" cy="325526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Example case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Original prediction: </a:t>
            </a:r>
            <a:r>
              <a:rPr lang="en-US" b="1" dirty="0"/>
              <a:t>78.55 kWh</a:t>
            </a:r>
            <a:r>
              <a:rPr lang="en-US" dirty="0"/>
              <a:t> → classified as High consumption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Recommendations triggered:</a:t>
            </a:r>
          </a:p>
          <a:p>
            <a:pPr>
              <a:lnSpc>
                <a:spcPct val="150000"/>
              </a:lnSpc>
            </a:pPr>
            <a:r>
              <a:rPr lang="en-US" dirty="0"/>
              <a:t>Turn off unnecessary HVAC</a:t>
            </a:r>
          </a:p>
          <a:p>
            <a:pPr>
              <a:lnSpc>
                <a:spcPct val="150000"/>
              </a:lnSpc>
            </a:pPr>
            <a:r>
              <a:rPr lang="en-US" dirty="0"/>
              <a:t>Switch off unused lighting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3D1C9-9A90-9AFA-1782-62FDFA2A7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8315" y="2518611"/>
            <a:ext cx="4625341" cy="3818181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/>
              <a:t>Simulated intervention: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dirty="0" err="1"/>
              <a:t>HVACUsage</a:t>
            </a:r>
            <a:r>
              <a:rPr lang="en-US" dirty="0"/>
              <a:t> = 0,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dirty="0" err="1"/>
              <a:t>LightingUsage</a:t>
            </a:r>
            <a:r>
              <a:rPr lang="en-US" dirty="0"/>
              <a:t> = 0 →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dirty="0"/>
              <a:t>New prediction: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b="1" dirty="0"/>
              <a:t>74.67 kWh</a:t>
            </a:r>
            <a:r>
              <a:rPr lang="en-US" dirty="0"/>
              <a:t> → </a:t>
            </a:r>
            <a:r>
              <a:rPr lang="en-US" b="1" dirty="0"/>
              <a:t>Relative reduction: 4.95%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416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AB870-4BF2-6522-2E71-87AE7F3E6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6680" cy="1129284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+mn-lt"/>
              </a:rPr>
              <a:t>Production Readiness &amp; Next Steps</a:t>
            </a:r>
            <a:endParaRPr lang="en-IN" dirty="0">
              <a:effectLst/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5E088-806B-8563-2ADA-CD1FD5A7FF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WHAT IS READY?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Trained &amp; saved model (</a:t>
            </a:r>
            <a:r>
              <a:rPr lang="en-US" dirty="0" err="1"/>
              <a:t>energy_model.pkl</a:t>
            </a:r>
            <a:r>
              <a:rPr lang="en-US" dirty="0"/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Clear feature importance ranking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Demonstrated intervention logic &amp; savings quantification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Reproducible pipeline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20F359-E946-AF38-0E92-DF19368FCAE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LIMITATIONS &amp; IMPROVEMENTS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Currently static simulation (not time-series aware)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No external weather forecast integration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Single building – not yet multi-site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Potential for time-series CV or LSTM comparison.</a:t>
            </a:r>
          </a:p>
        </p:txBody>
      </p:sp>
    </p:spTree>
    <p:extLst>
      <p:ext uri="{BB962C8B-B14F-4D97-AF65-F5344CB8AC3E}">
        <p14:creationId xmlns:p14="http://schemas.microsoft.com/office/powerpoint/2010/main" val="2646680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231A2-CEA3-4115-4233-EE04219F8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Data Science in Action for Sustainability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C44798B-E0F5-502C-63F9-ED9D5B62CFE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944624" y="2387240"/>
            <a:ext cx="8223504" cy="421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XGBoost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delivered strongest predictive performance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Square footage, temperature &amp; HVAC usage are dominant drivers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Simple operational changes can yield ~5% savings per instance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 is saved, interpretable, and ready for integration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Clear path from prediction → behavioral recommendation → carbon impact</a:t>
            </a:r>
            <a:endParaRPr lang="en-US" altLang="en-US" dirty="0">
              <a:solidFill>
                <a:schemeClr val="tx1"/>
              </a:solidFill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solidFill>
                <a:schemeClr val="tx1"/>
              </a:solidFill>
            </a:endParaRPr>
          </a:p>
          <a:p>
            <a:pPr marL="0" indent="0" algn="ctr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400" b="1" dirty="0"/>
              <a:t>ACCURATE FORECASTING + TARGETED INTERVENTIONS = MEASURABLE PROGRESS TOWARD NET-ZERO BUILDINGS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1023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1B611-3618-34D3-3639-3A46807D2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3936" y="521208"/>
            <a:ext cx="8644128" cy="269748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4000" dirty="0"/>
              <a:t>THE END!</a:t>
            </a:r>
            <a:br>
              <a:rPr lang="en-US" sz="4000" dirty="0"/>
            </a:br>
            <a:r>
              <a:rPr lang="en-US" sz="4000"/>
              <a:t>THANKYOU!!</a:t>
            </a:r>
            <a:br>
              <a:rPr lang="en-US" sz="4000" dirty="0"/>
            </a:br>
            <a:r>
              <a:rPr lang="en-US" sz="4000" dirty="0"/>
              <a:t>ANY QUESTIONS…???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729EE-E914-883E-23C1-271FEF4DF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50126" y="3904489"/>
            <a:ext cx="5891747" cy="14264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RAVYA MISHRA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23030124063</a:t>
            </a:r>
          </a:p>
        </p:txBody>
      </p:sp>
    </p:spTree>
    <p:extLst>
      <p:ext uri="{BB962C8B-B14F-4D97-AF65-F5344CB8AC3E}">
        <p14:creationId xmlns:p14="http://schemas.microsoft.com/office/powerpoint/2010/main" val="286371519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ENERGY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2E7D32"/>
      </a:accent1>
      <a:accent2>
        <a:srgbClr val="00796B"/>
      </a:accent2>
      <a:accent3>
        <a:srgbClr val="0288D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755</TotalTime>
  <Words>602</Words>
  <Application>Microsoft Office PowerPoint</Application>
  <PresentationFormat>Widescreen</PresentationFormat>
  <Paragraphs>146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Times New Roman</vt:lpstr>
      <vt:lpstr>Wingdings</vt:lpstr>
      <vt:lpstr>Parcel</vt:lpstr>
      <vt:lpstr>Eco-Friendly Energy Usage Prediction</vt:lpstr>
      <vt:lpstr>Table of Contents</vt:lpstr>
      <vt:lpstr>INTRODUCTION</vt:lpstr>
      <vt:lpstr>Why This Project Matters</vt:lpstr>
      <vt:lpstr>PROJECT DIRECTORY STRUCTURE</vt:lpstr>
      <vt:lpstr>Dataset Description</vt:lpstr>
      <vt:lpstr>DATA EXPLORATION AND ANALYSIS</vt:lpstr>
      <vt:lpstr>MODEL ARCHITECTURE</vt:lpstr>
      <vt:lpstr>METHODOLOGY</vt:lpstr>
      <vt:lpstr>Modelling Strategy &amp; Model Comparison</vt:lpstr>
      <vt:lpstr>Final Model – XGBoost</vt:lpstr>
      <vt:lpstr>Model Performance</vt:lpstr>
      <vt:lpstr>Feature Importance</vt:lpstr>
      <vt:lpstr>From Prediction to Actionable Savings</vt:lpstr>
      <vt:lpstr>Production Readiness &amp; Next Steps</vt:lpstr>
      <vt:lpstr>Data Science in Action for Sustainability</vt:lpstr>
      <vt:lpstr>THE END! THANKYOU!! ANY QUESTIONS…???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RAVYA MISHRA</dc:creator>
  <cp:lastModifiedBy>RAVYA MISHRA</cp:lastModifiedBy>
  <cp:revision>73</cp:revision>
  <dcterms:created xsi:type="dcterms:W3CDTF">2026-02-18T16:43:42Z</dcterms:created>
  <dcterms:modified xsi:type="dcterms:W3CDTF">2026-02-19T06:26:24Z</dcterms:modified>
</cp:coreProperties>
</file>